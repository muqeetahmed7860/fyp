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gqso+muD7qxSKyk66oXGt+27nM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 autoAdjust="0"/>
    <p:restoredTop sz="94660"/>
  </p:normalViewPr>
  <p:slideViewPr>
    <p:cSldViewPr snapToGrid="0">
      <p:cViewPr>
        <p:scale>
          <a:sx n="75" d="100"/>
          <a:sy n="75" d="100"/>
        </p:scale>
        <p:origin x="1954" y="2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0158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39867fdc9_0_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g2039867fdc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39867fdc9_0_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g2039867fdc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200" b="1">
                <a:solidFill>
                  <a:srgbClr val="1F497D"/>
                </a:solidFill>
                <a:latin typeface="Calibri"/>
              </a:rPr>
              <a:t>Final Year Project Proposal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 lnSpcReduction="10000"/>
          </a:bodyPr>
          <a:lstStyle/>
          <a:p>
            <a:pPr marL="63500" indent="0" algn="ctr">
              <a:lnSpc>
                <a:spcPct val="100000"/>
              </a:lnSpc>
              <a:spcBef>
                <a:spcPts val="0"/>
              </a:spcBef>
            </a:pPr>
            <a:r>
              <a:rPr sz="2400" b="0">
                <a:solidFill>
                  <a:srgbClr val="232D3C"/>
                </a:solidFill>
                <a:latin typeface="Calibri"/>
              </a:rPr>
              <a:t>HisabKetab AI
AI-Powered Personal Finance, Budgeting &amp; Tax Intelligence System for Pakistan
Supervised By: Sir Zeeshan Ali (Lecturer)</a:t>
            </a:r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600" b="1">
                <a:solidFill>
                  <a:srgbClr val="1F497D"/>
                </a:solidFill>
                <a:latin typeface="Calibri"/>
              </a:rPr>
              <a:t>Project Team</a:t>
            </a:r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43000" y="1554480"/>
            <a:ext cx="6400800" cy="29260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232D3C"/>
                </a:solidFill>
                <a:latin typeface="Calibri"/>
              </a:rPr>
              <a:t>Abubakar Awan — SAP-ID: 54257
Muqeet Ahmed — SAP-ID: 53102
Supervisor: Sir Zeeshan Ali (Lecturer)
Project Title: HisabKetab AI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057400" y="4709160"/>
            <a:ext cx="4572000" cy="457200"/>
          </a:xfrm>
          <a:prstGeom prst="roundRect">
            <a:avLst/>
          </a:prstGeom>
          <a:solidFill>
            <a:srgbClr val="DE9E28"/>
          </a:solidFill>
          <a:ln>
            <a:solidFill>
              <a:srgbClr val="DE9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BSCS Final Year Project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497D"/>
                </a:solidFill>
                <a:latin typeface="Calibri"/>
              </a:rPr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/>
          </a:bodyPr>
          <a:lstStyle/>
          <a:p>
            <a:pPr marL="342900">
              <a:spcBef>
                <a:spcPts val="0"/>
              </a:spcBef>
              <a:spcAft>
                <a:spcPts val="900"/>
              </a:spcAft>
              <a:buSzPts val="3200"/>
              <a:defRPr sz="2200">
                <a:solidFill>
                  <a:srgbClr val="232D3C"/>
                </a:solidFill>
                <a:latin typeface="Calibri"/>
              </a:defRPr>
            </a:pPr>
            <a:r>
              <a:rPr dirty="0"/>
              <a:t>Introduction and </a:t>
            </a:r>
            <a:r>
              <a:rPr dirty="0" smtClean="0"/>
              <a:t>Background</a:t>
            </a:r>
            <a:endParaRPr lang="en-US" dirty="0"/>
          </a:p>
          <a:p>
            <a:pPr marL="342900">
              <a:spcBef>
                <a:spcPts val="0"/>
              </a:spcBef>
              <a:spcAft>
                <a:spcPts val="900"/>
              </a:spcAft>
              <a:buSzPts val="3200"/>
              <a:defRPr sz="2200">
                <a:solidFill>
                  <a:srgbClr val="232D3C"/>
                </a:solidFill>
                <a:latin typeface="Calibri"/>
              </a:defRPr>
            </a:pPr>
            <a:r>
              <a:rPr dirty="0" smtClean="0"/>
              <a:t>Literature </a:t>
            </a:r>
            <a:r>
              <a:rPr dirty="0"/>
              <a:t>Review and Summary </a:t>
            </a:r>
            <a:r>
              <a:rPr dirty="0" smtClean="0"/>
              <a:t>Table</a:t>
            </a:r>
            <a:endParaRPr lang="en-US" dirty="0"/>
          </a:p>
          <a:p>
            <a:pPr marL="342900">
              <a:spcBef>
                <a:spcPts val="0"/>
              </a:spcBef>
              <a:spcAft>
                <a:spcPts val="900"/>
              </a:spcAft>
              <a:buSzPts val="3200"/>
              <a:defRPr sz="2200">
                <a:solidFill>
                  <a:srgbClr val="232D3C"/>
                </a:solidFill>
                <a:latin typeface="Calibri"/>
              </a:defRPr>
            </a:pPr>
            <a:r>
              <a:rPr dirty="0" smtClean="0"/>
              <a:t>Gap Analysis</a:t>
            </a:r>
            <a:endParaRPr lang="en-US" dirty="0" smtClean="0"/>
          </a:p>
          <a:p>
            <a:pPr marL="342900">
              <a:spcBef>
                <a:spcPts val="0"/>
              </a:spcBef>
              <a:spcAft>
                <a:spcPts val="900"/>
              </a:spcAft>
              <a:buSzPts val="3200"/>
              <a:defRPr sz="2200">
                <a:solidFill>
                  <a:srgbClr val="232D3C"/>
                </a:solidFill>
                <a:latin typeface="Calibri"/>
              </a:defRPr>
            </a:pPr>
            <a:r>
              <a:rPr dirty="0" smtClean="0"/>
              <a:t>Problem Statement</a:t>
            </a:r>
            <a:endParaRPr lang="en-US" dirty="0" smtClean="0"/>
          </a:p>
          <a:p>
            <a:pPr marL="342900">
              <a:spcBef>
                <a:spcPts val="0"/>
              </a:spcBef>
              <a:spcAft>
                <a:spcPts val="900"/>
              </a:spcAft>
              <a:buSzPts val="3200"/>
              <a:defRPr sz="2200">
                <a:solidFill>
                  <a:srgbClr val="232D3C"/>
                </a:solidFill>
                <a:latin typeface="Calibri"/>
              </a:defRPr>
            </a:pPr>
            <a:r>
              <a:rPr dirty="0" smtClean="0"/>
              <a:t>Proposed </a:t>
            </a:r>
            <a:r>
              <a:rPr dirty="0"/>
              <a:t>Solution and </a:t>
            </a:r>
            <a:r>
              <a:rPr dirty="0" smtClean="0"/>
              <a:t>Methodology</a:t>
            </a:r>
            <a:endParaRPr lang="en-US" dirty="0" smtClean="0"/>
          </a:p>
          <a:p>
            <a:pPr marL="342900">
              <a:spcBef>
                <a:spcPts val="0"/>
              </a:spcBef>
              <a:spcAft>
                <a:spcPts val="900"/>
              </a:spcAft>
              <a:buSzPts val="3200"/>
              <a:defRPr sz="2200">
                <a:solidFill>
                  <a:srgbClr val="232D3C"/>
                </a:solidFill>
                <a:latin typeface="Calibri"/>
              </a:defRPr>
            </a:pPr>
            <a:r>
              <a:rPr dirty="0" smtClean="0"/>
              <a:t>Project Scope</a:t>
            </a:r>
            <a:endParaRPr lang="en-US" dirty="0" smtClean="0"/>
          </a:p>
          <a:p>
            <a:pPr marL="342900">
              <a:spcBef>
                <a:spcPts val="0"/>
              </a:spcBef>
              <a:spcAft>
                <a:spcPts val="900"/>
              </a:spcAft>
              <a:buSzPts val="3200"/>
              <a:defRPr sz="2200">
                <a:solidFill>
                  <a:srgbClr val="232D3C"/>
                </a:solidFill>
                <a:latin typeface="Calibri"/>
              </a:defRPr>
            </a:pPr>
            <a:r>
              <a:rPr dirty="0" smtClean="0"/>
              <a:t>Work </a:t>
            </a:r>
            <a:r>
              <a:rPr dirty="0"/>
              <a:t>Breakdown </a:t>
            </a:r>
            <a:r>
              <a:rPr dirty="0" smtClean="0"/>
              <a:t>Structure</a:t>
            </a:r>
            <a:endParaRPr lang="en-US" dirty="0" smtClean="0"/>
          </a:p>
          <a:p>
            <a:pPr marL="342900">
              <a:spcBef>
                <a:spcPts val="0"/>
              </a:spcBef>
              <a:spcAft>
                <a:spcPts val="900"/>
              </a:spcAft>
              <a:buSzPts val="3200"/>
              <a:defRPr sz="2200">
                <a:solidFill>
                  <a:srgbClr val="232D3C"/>
                </a:solidFill>
                <a:latin typeface="Calibri"/>
              </a:defRPr>
            </a:pPr>
            <a:r>
              <a:rPr dirty="0" smtClean="0"/>
              <a:t>Roles, Constraints and Limitations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200" b="1">
                <a:solidFill>
                  <a:srgbClr val="1F497D"/>
                </a:solidFill>
                <a:latin typeface="Calibri"/>
              </a:rPr>
              <a:t>INTRODUCTION AND BACKGROUND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b" anchorCtr="0">
            <a:normAutofit/>
          </a:bodyPr>
          <a:lstStyle/>
          <a:p>
            <a:pPr marL="44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sz="2100" b="0">
                <a:solidFill>
                  <a:srgbClr val="646E78"/>
                </a:solidFill>
                <a:latin typeface="Calibri"/>
              </a:rPr>
              <a:t>Why Pakistani users need continuous finance and tax intelligence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 smtClean="0">
                <a:solidFill>
                  <a:srgbClr val="1F497D"/>
                </a:solidFill>
                <a:latin typeface="Calibri"/>
              </a:rPr>
              <a:t>Background</a:t>
            </a:r>
            <a:endParaRPr dirty="0"/>
          </a:p>
        </p:txBody>
      </p:sp>
      <p:sp>
        <p:nvSpPr>
          <p:cNvPr id="110" name="TextBox 109"/>
          <p:cNvSpPr txBox="1"/>
          <p:nvPr/>
        </p:nvSpPr>
        <p:spPr>
          <a:xfrm>
            <a:off x="502920" y="1417320"/>
            <a:ext cx="8183880" cy="3429000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just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Pakistan, many individuals manage their daily expenses, income, budgets, assets, and tax-related records separately. A large portion of spending is also done through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cash, cards, bank transfers, </a:t>
            </a:r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Easypaisa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JazzCash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receipts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makes complete financial record-keeping difficult</a:t>
            </a:r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the end of the tax year, users may need to organize their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income, expenses, assets, liabilities, withholding taxes, and wealth information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tax calculation and FBR-related documentation. This process can become confusing when financial records have not been maintained throughout the year</a:t>
            </a:r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applications usually focus on only one area, such as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expense tracking, budgeting, receipt scanning, or tax filing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They do not always provide one continuous system that connects everyday financial activity with year-end tax preparation.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05840" y="5166360"/>
            <a:ext cx="6400800" cy="502920"/>
          </a:xfrm>
          <a:prstGeom prst="roundRect">
            <a:avLst/>
          </a:prstGeom>
          <a:solidFill>
            <a:srgbClr val="DE9E28"/>
          </a:solidFill>
          <a:ln>
            <a:solidFill>
              <a:srgbClr val="DE9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Core Idea: Daily financial data → Tax-ready intelligence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" y="5998464"/>
            <a:ext cx="7818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6E78"/>
                </a:solidFill>
                <a:latin typeface="Calibri"/>
              </a:defRPr>
            </a:pPr>
            <a:r>
              <a:rPr dirty="0"/>
              <a:t>Tax filing context aligned with FBR IRIS requirement: return + wealth statement + reconciliation.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1563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200" b="1" dirty="0" smtClean="0">
                <a:solidFill>
                  <a:srgbClr val="1F497D"/>
                </a:solidFill>
                <a:latin typeface="Calibri"/>
              </a:rPr>
              <a:t>I</a:t>
            </a:r>
            <a:r>
              <a:rPr lang="en-US" sz="3200" b="1" dirty="0" smtClean="0">
                <a:solidFill>
                  <a:srgbClr val="1F497D"/>
                </a:solidFill>
                <a:latin typeface="Calibri"/>
              </a:rPr>
              <a:t>mportance</a:t>
            </a:r>
            <a:endParaRPr dirty="0"/>
          </a:p>
        </p:txBody>
      </p:sp>
      <p:sp>
        <p:nvSpPr>
          <p:cNvPr id="110" name="TextBox 109"/>
          <p:cNvSpPr txBox="1"/>
          <p:nvPr/>
        </p:nvSpPr>
        <p:spPr>
          <a:xfrm>
            <a:off x="502920" y="1417320"/>
            <a:ext cx="8183880" cy="3429000"/>
          </a:xfrm>
          <a:prstGeom prst="rect">
            <a:avLst/>
          </a:prstGeom>
          <a:noFill/>
        </p:spPr>
        <p:txBody>
          <a:bodyPr wrap="square" lIns="73152" rIns="73152">
            <a:normAutofit lnSpcReduction="10000"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080">
                <a:solidFill>
                  <a:srgbClr val="1E2732"/>
                </a:solidFill>
                <a:latin typeface="Arial"/>
              </a:defRPr>
            </a:pPr>
            <a:r>
              <a:rPr lang="en-US" sz="1600" dirty="0" smtClean="0"/>
              <a:t>Pakistan </a:t>
            </a:r>
            <a:r>
              <a:rPr lang="en-US" sz="1600" dirty="0"/>
              <a:t>now has around 7 million income-tax return </a:t>
            </a:r>
            <a:r>
              <a:rPr lang="en-US" sz="1600" dirty="0" smtClean="0"/>
              <a:t>filers</a:t>
            </a:r>
            <a:endParaRPr lang="en-US" sz="16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080">
                <a:solidFill>
                  <a:srgbClr val="1E2732"/>
                </a:solidFill>
                <a:latin typeface="Arial"/>
              </a:defRPr>
            </a:pPr>
            <a:r>
              <a:rPr lang="en-US" sz="1600" dirty="0" smtClean="0"/>
              <a:t>FBR </a:t>
            </a:r>
            <a:r>
              <a:rPr lang="en-US" sz="1600" dirty="0"/>
              <a:t>reported 5.9 million returns filed by 31 October 2025, up 17.6% from the previous year</a:t>
            </a:r>
            <a:r>
              <a:rPr lang="en-US" sz="1600" dirty="0" smtClean="0"/>
              <a:t>.</a:t>
            </a:r>
            <a:endParaRPr lang="en-US" sz="16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080">
                <a:solidFill>
                  <a:srgbClr val="1E2732"/>
                </a:solidFill>
                <a:latin typeface="Arial"/>
              </a:defRPr>
            </a:pPr>
            <a:r>
              <a:rPr lang="en-US" sz="1600" dirty="0" smtClean="0"/>
              <a:t>FBR </a:t>
            </a:r>
            <a:r>
              <a:rPr lang="en-US" sz="1600" dirty="0"/>
              <a:t>recorded 1.44 million women income-tax filers in Tax Year 2024, including about 162,000 women declaring business income.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080">
                <a:solidFill>
                  <a:srgbClr val="1E2732"/>
                </a:solidFill>
                <a:latin typeface="Arial"/>
              </a:defRPr>
            </a:pPr>
            <a:r>
              <a:rPr lang="en-US" sz="1600" dirty="0" smtClean="0"/>
              <a:t>The </a:t>
            </a:r>
            <a:r>
              <a:rPr lang="en-US" sz="1600" dirty="0"/>
              <a:t>practical target age is mainly working-age adults, approximately 18–60 years, who earn income, manage expenses, hold assets, or file tax returns.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080">
                <a:solidFill>
                  <a:srgbClr val="1E2732"/>
                </a:solidFill>
                <a:latin typeface="Arial"/>
              </a:defRPr>
            </a:pPr>
            <a:r>
              <a:rPr lang="en-US" sz="1600" dirty="0" smtClean="0"/>
              <a:t>These </a:t>
            </a:r>
            <a:r>
              <a:rPr lang="en-US" sz="1600" dirty="0"/>
              <a:t>users need to manage income, expenses, withholding tax, assets, liabilities, budgets, and yearly tax </a:t>
            </a:r>
            <a:r>
              <a:rPr lang="en-US" sz="1600" dirty="0" smtClean="0"/>
              <a:t>records.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080">
                <a:solidFill>
                  <a:srgbClr val="1E2732"/>
                </a:solidFill>
                <a:latin typeface="Arial"/>
              </a:defRPr>
            </a:pPr>
            <a:r>
              <a:rPr lang="en-US" sz="1600" b="1" dirty="0" smtClean="0"/>
              <a:t>Around </a:t>
            </a:r>
            <a:r>
              <a:rPr lang="en-US" sz="1600" b="1" dirty="0"/>
              <a:t>65–70% of personal finance software users are individual consumers</a:t>
            </a:r>
            <a:r>
              <a:rPr lang="en-US" sz="1600" dirty="0"/>
              <a:t> managing their own budgets, expenses, and </a:t>
            </a:r>
            <a:r>
              <a:rPr lang="en-US" sz="1600" dirty="0" smtClean="0"/>
              <a:t>savings.</a:t>
            </a:r>
            <a:br>
              <a:rPr lang="en-US" sz="1600" dirty="0" smtClean="0"/>
            </a:br>
            <a:r>
              <a:rPr lang="en-US" sz="1600" b="1" dirty="0"/>
              <a:t>AI-powered expense trackers are growing faster</a:t>
            </a:r>
            <a:r>
              <a:rPr lang="en-US" sz="1600" dirty="0"/>
              <a:t>, with AI-based finance apps showing higher adoption growth compared to traditional manual-entry trackers.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05840" y="5166360"/>
            <a:ext cx="6400800" cy="502920"/>
          </a:xfrm>
          <a:prstGeom prst="roundRect">
            <a:avLst/>
          </a:prstGeom>
          <a:solidFill>
            <a:srgbClr val="DE9E28"/>
          </a:solidFill>
          <a:ln>
            <a:solidFill>
              <a:srgbClr val="DE9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Core Idea: Daily financial data → Tax-ready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497D"/>
                </a:solidFill>
                <a:latin typeface="Calibri"/>
              </a:rPr>
              <a:t>LITERATURE REVIEW</a:t>
            </a: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b" anchorCtr="0">
            <a:normAutofit/>
          </a:bodyPr>
          <a:lstStyle/>
          <a:p>
            <a:pPr marL="44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sz="2100" b="0">
                <a:solidFill>
                  <a:srgbClr val="646E78"/>
                </a:solidFill>
                <a:latin typeface="Calibri"/>
              </a:rPr>
              <a:t>Existing finance and tax systems show strong competition, but limited unified automation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 dirty="0" smtClean="0">
                <a:solidFill>
                  <a:srgbClr val="1F497D"/>
                </a:solidFill>
              </a:rPr>
              <a:t>Market Survey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629194"/>
              </p:ext>
            </p:extLst>
          </p:nvPr>
        </p:nvGraphicFramePr>
        <p:xfrm>
          <a:off x="246888" y="1350140"/>
          <a:ext cx="8439912" cy="4216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1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2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2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8501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400" b="1" dirty="0" smtClean="0">
                          <a:solidFill>
                            <a:srgbClr val="FFFFFF"/>
                          </a:solidFill>
                          <a:latin typeface="Arial"/>
                        </a:rPr>
                        <a:t>Features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6576" marR="36576" marT="27432" marB="27432">
                    <a:solidFill>
                      <a:srgbClr val="4D85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 dirty="0" err="1" smtClean="0">
                          <a:solidFill>
                            <a:srgbClr val="FFFFFF"/>
                          </a:solidFill>
                          <a:latin typeface="Arial"/>
                        </a:rPr>
                        <a:t>Zimma</a:t>
                      </a:r>
                      <a:r>
                        <a:rPr lang="en-US" sz="1400" b="1" dirty="0" smtClean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  <a:br>
                        <a:rPr lang="en-US" sz="1400" b="1" dirty="0" smtClean="0">
                          <a:solidFill>
                            <a:srgbClr val="FFFFFF"/>
                          </a:solidFill>
                          <a:latin typeface="Arial"/>
                        </a:rPr>
                      </a:br>
                      <a:r>
                        <a:rPr lang="en-US" sz="900" b="1" dirty="0" smtClean="0">
                          <a:solidFill>
                            <a:srgbClr val="FFFFFF"/>
                          </a:solidFill>
                          <a:latin typeface="Arial"/>
                        </a:rPr>
                        <a:t>(Not</a:t>
                      </a:r>
                      <a:r>
                        <a:rPr lang="en-US" sz="900" b="1" baseline="0" dirty="0" smtClean="0">
                          <a:solidFill>
                            <a:srgbClr val="FFFFFF"/>
                          </a:solidFill>
                          <a:latin typeface="Arial"/>
                        </a:rPr>
                        <a:t> Launched Yet)</a:t>
                      </a:r>
                      <a:endParaRPr sz="10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6576" marR="36576" marT="27432" marB="27432">
                    <a:solidFill>
                      <a:srgbClr val="4D85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Cortix SL</a:t>
                      </a:r>
                    </a:p>
                  </a:txBody>
                  <a:tcPr marL="36576" marR="36576" marT="27432" marB="27432">
                    <a:solidFill>
                      <a:srgbClr val="4D85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FBR IRIS</a:t>
                      </a:r>
                    </a:p>
                  </a:txBody>
                  <a:tcPr marL="36576" marR="36576" marT="27432" marB="27432">
                    <a:solidFill>
                      <a:srgbClr val="4D85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Befiler</a:t>
                      </a:r>
                    </a:p>
                  </a:txBody>
                  <a:tcPr marL="36576" marR="36576" marT="27432" marB="27432">
                    <a:solidFill>
                      <a:srgbClr val="4D85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Spendee</a:t>
                      </a:r>
                    </a:p>
                  </a:txBody>
                  <a:tcPr marL="36576" marR="36576" marT="27432" marB="27432">
                    <a:solidFill>
                      <a:srgbClr val="4D85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DigiKhata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6576" marR="36576" marT="27432" marB="27432">
                    <a:solidFill>
                      <a:srgbClr val="4D85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501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1E2732"/>
                          </a:solidFill>
                          <a:latin typeface="Arial"/>
                        </a:rPr>
                        <a:t>Expense Tracking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dirty="0">
                          <a:solidFill>
                            <a:srgbClr val="1E27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 b="0" dirty="0" smtClean="0">
                          <a:solidFill>
                            <a:srgbClr val="1E2732"/>
                          </a:solidFill>
                          <a:latin typeface="+mn-lt"/>
                        </a:rPr>
                        <a:t>✓</a:t>
                      </a:r>
                      <a:endParaRPr sz="1600" b="0" dirty="0">
                        <a:solidFill>
                          <a:srgbClr val="1E2732"/>
                        </a:solidFill>
                        <a:latin typeface="Arial"/>
                      </a:endParaRP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dirty="0">
                          <a:solidFill>
                            <a:srgbClr val="1E27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dirty="0">
                          <a:solidFill>
                            <a:srgbClr val="1E27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501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1E2732"/>
                          </a:solidFill>
                          <a:latin typeface="Arial"/>
                        </a:rPr>
                        <a:t>AI / Natural-Language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 b="0" dirty="0" smtClean="0">
                          <a:solidFill>
                            <a:srgbClr val="1E2732"/>
                          </a:solidFill>
                          <a:latin typeface="+mn-lt"/>
                        </a:rPr>
                        <a:t>✓</a:t>
                      </a:r>
                      <a:endParaRPr sz="1600" b="0" dirty="0">
                        <a:solidFill>
                          <a:srgbClr val="1E2732"/>
                        </a:solidFill>
                        <a:latin typeface="Arial"/>
                      </a:endParaRP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501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1E2732"/>
                          </a:solidFill>
                          <a:latin typeface="Arial"/>
                        </a:rPr>
                        <a:t>Voice Expense Entry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dirty="0">
                          <a:solidFill>
                            <a:srgbClr val="1E27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501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1E2732"/>
                          </a:solidFill>
                          <a:latin typeface="Arial"/>
                        </a:rPr>
                        <a:t>Receipt OCR / Scanning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dirty="0">
                          <a:solidFill>
                            <a:srgbClr val="1E27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dirty="0">
                          <a:solidFill>
                            <a:srgbClr val="1E27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Bill</a:t>
                      </a:r>
                      <a:r>
                        <a:rPr sz="640" b="0" dirty="0">
                          <a:solidFill>
                            <a:srgbClr val="1E2732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attach</a:t>
                      </a:r>
                      <a:r>
                        <a:rPr sz="640" b="0" dirty="0">
                          <a:solidFill>
                            <a:srgbClr val="1E2732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501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1E2732"/>
                          </a:solidFill>
                          <a:latin typeface="Arial"/>
                        </a:rPr>
                        <a:t>Budget Management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dirty="0">
                          <a:solidFill>
                            <a:srgbClr val="1E27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dirty="0">
                          <a:solidFill>
                            <a:srgbClr val="1E27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dirty="0">
                          <a:solidFill>
                            <a:srgbClr val="1E27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501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1E2732"/>
                          </a:solidFill>
                          <a:latin typeface="Arial"/>
                        </a:rPr>
                        <a:t>Assets / Net Worth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dirty="0">
                          <a:solidFill>
                            <a:srgbClr val="1E27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Wealth stmt.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501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1E2732"/>
                          </a:solidFill>
                          <a:latin typeface="Arial"/>
                        </a:rPr>
                        <a:t>Pakistan Tax Support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Tax</a:t>
                      </a:r>
                      <a:r>
                        <a:rPr sz="640" b="0" dirty="0">
                          <a:solidFill>
                            <a:srgbClr val="1E2732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Official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600" b="0" dirty="0">
                          <a:solidFill>
                            <a:srgbClr val="1E27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8501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1E2732"/>
                          </a:solidFill>
                          <a:latin typeface="Arial"/>
                        </a:rPr>
                        <a:t>Wealth Statement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Data</a:t>
                      </a:r>
                      <a:r>
                        <a:rPr sz="640" b="0" dirty="0">
                          <a:solidFill>
                            <a:srgbClr val="1E2732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prep</a:t>
                      </a:r>
                      <a:r>
                        <a:rPr sz="640" b="0" dirty="0">
                          <a:solidFill>
                            <a:srgbClr val="1E2732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Filing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Filing</a:t>
                      </a:r>
                      <a:r>
                        <a:rPr sz="640" b="0" dirty="0">
                          <a:solidFill>
                            <a:srgbClr val="1E2732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1E2732"/>
                          </a:solidFill>
                          <a:latin typeface="Arial"/>
                        </a:rPr>
                        <a:t>support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640" b="0" dirty="0">
                          <a:solidFill>
                            <a:srgbClr val="1E273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27432" marB="27432">
                    <a:solidFill>
                      <a:srgbClr val="E5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039867fdc9_0_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497D"/>
                </a:solidFill>
                <a:latin typeface="Calibri"/>
              </a:rPr>
              <a:t>GAP ANALYSIS</a:t>
            </a:r>
            <a:endParaRPr/>
          </a:p>
        </p:txBody>
      </p:sp>
      <p:sp>
        <p:nvSpPr>
          <p:cNvPr id="128" name="Google Shape;128;g2039867fdc9_0_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b" anchorCtr="0">
            <a:normAutofit/>
          </a:bodyPr>
          <a:lstStyle/>
          <a:p>
            <a:pPr marL="44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sz="2100" b="0">
                <a:solidFill>
                  <a:srgbClr val="646E78"/>
                </a:solidFill>
                <a:latin typeface="Calibri"/>
              </a:rPr>
              <a:t>The gap is not simple tracking; it is continuous AI-driven finance-to-tax preparation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039867fdc9_0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200" b="1">
                <a:solidFill>
                  <a:srgbClr val="1F497D"/>
                </a:solidFill>
                <a:latin typeface="Calibri"/>
              </a:rPr>
              <a:t>Gap Analysis</a:t>
            </a:r>
            <a:endParaRPr/>
          </a:p>
        </p:txBody>
      </p:sp>
      <p:graphicFrame>
        <p:nvGraphicFramePr>
          <p:cNvPr id="134" name="Table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241172"/>
              </p:ext>
            </p:extLst>
          </p:nvPr>
        </p:nvGraphicFramePr>
        <p:xfrm>
          <a:off x="457200" y="1617928"/>
          <a:ext cx="7554997" cy="354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8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1" dirty="0" smtClean="0">
                          <a:solidFill>
                            <a:srgbClr val="232D3C"/>
                          </a:solidFill>
                          <a:latin typeface="Calibri"/>
                        </a:rPr>
                        <a:t>Limited split-expense understanding</a:t>
                      </a:r>
                      <a:endParaRPr sz="14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fr-FR" sz="1400" b="1" dirty="0" smtClean="0">
                          <a:solidFill>
                            <a:srgbClr val="232D3C"/>
                          </a:solidFill>
                          <a:latin typeface="Calibri"/>
                        </a:rPr>
                        <a:t>Limited Urdu/Roman Urdu </a:t>
                      </a:r>
                      <a:r>
                        <a:rPr lang="fr-FR" sz="1400" b="1" dirty="0" err="1" smtClean="0">
                          <a:solidFill>
                            <a:srgbClr val="232D3C"/>
                          </a:solidFill>
                          <a:latin typeface="Calibri"/>
                        </a:rPr>
                        <a:t>voice</a:t>
                      </a:r>
                      <a:r>
                        <a:rPr lang="fr-FR" sz="1400" b="1" dirty="0" smtClean="0">
                          <a:solidFill>
                            <a:srgbClr val="232D3C"/>
                          </a:solidFill>
                          <a:latin typeface="Calibri"/>
                        </a:rPr>
                        <a:t> support</a:t>
                      </a:r>
                      <a:endParaRPr lang="fr-FR" sz="14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1" dirty="0" smtClean="0">
                          <a:solidFill>
                            <a:srgbClr val="232D3C"/>
                          </a:solidFill>
                          <a:latin typeface="Calibri"/>
                        </a:rPr>
                        <a:t>Expense tracking and tax filing remain separate</a:t>
                      </a:r>
                      <a:endParaRPr sz="14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1" dirty="0" smtClean="0">
                          <a:solidFill>
                            <a:srgbClr val="232D3C"/>
                          </a:solidFill>
                          <a:latin typeface="Calibri"/>
                        </a:rPr>
                        <a:t>Limited receipt OCR + voice integration</a:t>
                      </a:r>
                      <a:endParaRPr sz="14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1" dirty="0" smtClean="0">
                          <a:solidFill>
                            <a:srgbClr val="232D3C"/>
                          </a:solidFill>
                          <a:latin typeface="Calibri"/>
                        </a:rPr>
                        <a:t>Limited tax-aware transaction classification</a:t>
                      </a:r>
                      <a:endParaRPr sz="14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1" dirty="0" smtClean="0">
                          <a:solidFill>
                            <a:srgbClr val="232D3C"/>
                          </a:solidFill>
                          <a:latin typeface="Calibri"/>
                        </a:rPr>
                        <a:t>Limited wealth reconciliation support</a:t>
                      </a:r>
                      <a:endParaRPr sz="14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1" dirty="0" smtClean="0">
                          <a:solidFill>
                            <a:srgbClr val="232D3C"/>
                          </a:solidFill>
                          <a:latin typeface="Calibri"/>
                        </a:rPr>
                        <a:t>Limited anomaly/unexplained wealth detection</a:t>
                      </a:r>
                      <a:endParaRPr sz="14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1" dirty="0" smtClean="0">
                          <a:solidFill>
                            <a:srgbClr val="232D3C"/>
                          </a:solidFill>
                          <a:latin typeface="Calibri"/>
                        </a:rPr>
                        <a:t>Limited AI-based safe-spending prediction</a:t>
                      </a:r>
                      <a:endParaRPr sz="14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1" dirty="0" smtClean="0">
                          <a:solidFill>
                            <a:srgbClr val="232D3C"/>
                          </a:solidFill>
                          <a:latin typeface="Calibri"/>
                        </a:rPr>
                        <a:t>No complete Pakistan-focused finance + tax platform</a:t>
                      </a:r>
                      <a:endParaRPr sz="14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1" dirty="0" smtClean="0">
                          <a:solidFill>
                            <a:srgbClr val="232D3C"/>
                          </a:solidFill>
                          <a:latin typeface="Calibri"/>
                        </a:rPr>
                        <a:t>No multi-expense voice reasoning</a:t>
                      </a:r>
                      <a:endParaRPr lang="en-US" sz="14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10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497D"/>
                </a:solidFill>
                <a:latin typeface="Calibri"/>
              </a:rPr>
              <a:t>PROBLEM STATEMENT</a:t>
            </a:r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b" anchorCtr="0">
            <a:normAutofit/>
          </a:bodyPr>
          <a:lstStyle/>
          <a:p>
            <a:pPr marL="44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sz="2100" b="0">
                <a:solidFill>
                  <a:srgbClr val="646E78"/>
                </a:solidFill>
                <a:latin typeface="Calibri"/>
              </a:rPr>
              <a:t>Users struggle because daily financial records and tax filing data remain disconnected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200" b="1">
                <a:solidFill>
                  <a:srgbClr val="1F497D"/>
                </a:solidFill>
                <a:latin typeface="Calibri"/>
              </a:rPr>
              <a:t>Problem Statement</a:t>
            </a:r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94360" y="1499988"/>
            <a:ext cx="7457958" cy="2012613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just"/>
            <a:r>
              <a:rPr lang="en-US" dirty="0"/>
              <a:t>Pakistani users often record their daily expenses manually or do not maintain proper financial records at all. Due to multiple payment methods such as </a:t>
            </a:r>
            <a:r>
              <a:rPr lang="en-US" b="1" dirty="0"/>
              <a:t>cash, bank accounts, cards, </a:t>
            </a:r>
            <a:r>
              <a:rPr lang="en-US" b="1" dirty="0" err="1"/>
              <a:t>Easypaisa</a:t>
            </a:r>
            <a:r>
              <a:rPr lang="en-US" b="1" dirty="0"/>
              <a:t>, and </a:t>
            </a:r>
            <a:r>
              <a:rPr lang="en-US" b="1" dirty="0" err="1"/>
              <a:t>JazzCash</a:t>
            </a:r>
            <a:r>
              <a:rPr lang="en-US" dirty="0"/>
              <a:t>, financial information becomes scattered across different sources. At tax-filing time, users face difficulties collecting and organizing their </a:t>
            </a:r>
            <a:r>
              <a:rPr lang="en-US" b="1" dirty="0"/>
              <a:t>income, expenses, receipts, assets, liabilities, and withholding tax information</a:t>
            </a:r>
            <a:r>
              <a:rPr lang="en-US" dirty="0"/>
              <a:t>, which makes accurate tax calculation, wealth statement preparation, and wealth reconciliation a challenging and time-consuming process. Maintaining continuous and structured financial records throughout the year can significantly simplify financial management and tax preparation.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94360" y="4173582"/>
            <a:ext cx="2148840" cy="502920"/>
          </a:xfrm>
          <a:prstGeom prst="round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Scattered Records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063240" y="4173582"/>
            <a:ext cx="2148840" cy="502920"/>
          </a:xfrm>
          <a:prstGeom prst="round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Manual Tax Preparation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532120" y="4173582"/>
            <a:ext cx="2148840" cy="502920"/>
          </a:xfrm>
          <a:prstGeom prst="round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Weak Reconciliation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12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2900" b="1">
                <a:solidFill>
                  <a:srgbClr val="1F497D"/>
                </a:solidFill>
                <a:latin typeface="Calibri"/>
              </a:rPr>
              <a:t>PROPOSED SOLUTION AND METHODOLOGY</a:t>
            </a:r>
            <a:endParaRPr/>
          </a:p>
        </p:txBody>
      </p:sp>
      <p:sp>
        <p:nvSpPr>
          <p:cNvPr id="152" name="Google Shape;152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b" anchorCtr="0">
            <a:normAutofit/>
          </a:bodyPr>
          <a:lstStyle/>
          <a:p>
            <a:pPr marL="44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sz="2100" b="0">
                <a:solidFill>
                  <a:srgbClr val="646E78"/>
                </a:solidFill>
                <a:latin typeface="Calibri"/>
              </a:rPr>
              <a:t>A hybrid system: AI understands the data, rule engine performs tax calculations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13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>
            <a:spLocks noGrp="1"/>
          </p:cNvSpPr>
          <p:nvPr>
            <p:ph type="title"/>
          </p:nvPr>
        </p:nvSpPr>
        <p:spPr>
          <a:xfrm>
            <a:off x="457200" y="25597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000" b="1">
                <a:solidFill>
                  <a:srgbClr val="1F497D"/>
                </a:solidFill>
                <a:latin typeface="Calibri"/>
              </a:rPr>
              <a:t>Proposed Solution and Methodology</a:t>
            </a:r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731520" y="4225834"/>
            <a:ext cx="1600200" cy="548640"/>
          </a:xfrm>
          <a:prstGeom prst="round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Calibri"/>
              </a:rPr>
              <a:t>Voice / Receipt / Manual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2103120" y="0"/>
            <a:ext cx="228600" cy="0"/>
          </a:xfrm>
          <a:prstGeom prst="line">
            <a:avLst/>
          </a:prstGeom>
          <a:ln w="15875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ounded Rectangle 159"/>
          <p:cNvSpPr/>
          <p:nvPr/>
        </p:nvSpPr>
        <p:spPr>
          <a:xfrm>
            <a:off x="2560320" y="4225834"/>
            <a:ext cx="1600200" cy="548640"/>
          </a:xfrm>
          <a:prstGeom prst="roundRect">
            <a:avLst/>
          </a:prstGeom>
          <a:solidFill>
            <a:srgbClr val="DE9E28"/>
          </a:solidFill>
          <a:ln>
            <a:solidFill>
              <a:srgbClr val="DE9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ASR / OCR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3931920" y="0"/>
            <a:ext cx="228600" cy="0"/>
          </a:xfrm>
          <a:prstGeom prst="line">
            <a:avLst/>
          </a:prstGeom>
          <a:ln w="15875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ounded Rectangle 161"/>
          <p:cNvSpPr/>
          <p:nvPr/>
        </p:nvSpPr>
        <p:spPr>
          <a:xfrm>
            <a:off x="4389120" y="4225834"/>
            <a:ext cx="1600200" cy="548640"/>
          </a:xfrm>
          <a:prstGeom prst="round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NLP Extraction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5760720" y="0"/>
            <a:ext cx="228600" cy="0"/>
          </a:xfrm>
          <a:prstGeom prst="line">
            <a:avLst/>
          </a:prstGeom>
          <a:ln w="15875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/>
          <p:cNvSpPr/>
          <p:nvPr/>
        </p:nvSpPr>
        <p:spPr>
          <a:xfrm>
            <a:off x="6217920" y="4225834"/>
            <a:ext cx="1600200" cy="548640"/>
          </a:xfrm>
          <a:prstGeom prst="roundRect">
            <a:avLst/>
          </a:prstGeom>
          <a:solidFill>
            <a:srgbClr val="DE9E28"/>
          </a:solidFill>
          <a:ln>
            <a:solidFill>
              <a:srgbClr val="DE9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Transactions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31520" y="5140234"/>
            <a:ext cx="1600200" cy="548640"/>
          </a:xfrm>
          <a:prstGeom prst="round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Budgets &amp; Analytics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2103120" y="0"/>
            <a:ext cx="228600" cy="0"/>
          </a:xfrm>
          <a:prstGeom prst="line">
            <a:avLst/>
          </a:prstGeom>
          <a:ln w="15875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ounded Rectangle 166"/>
          <p:cNvSpPr/>
          <p:nvPr/>
        </p:nvSpPr>
        <p:spPr>
          <a:xfrm>
            <a:off x="2560320" y="5140234"/>
            <a:ext cx="1600200" cy="548640"/>
          </a:xfrm>
          <a:prstGeom prst="roundRect">
            <a:avLst/>
          </a:prstGeom>
          <a:solidFill>
            <a:srgbClr val="DE9E28"/>
          </a:solidFill>
          <a:ln>
            <a:solidFill>
              <a:srgbClr val="DE9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Net Worth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3931920" y="0"/>
            <a:ext cx="228600" cy="0"/>
          </a:xfrm>
          <a:prstGeom prst="line">
            <a:avLst/>
          </a:prstGeom>
          <a:ln w="15875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ounded Rectangle 168"/>
          <p:cNvSpPr/>
          <p:nvPr/>
        </p:nvSpPr>
        <p:spPr>
          <a:xfrm>
            <a:off x="4389120" y="5140234"/>
            <a:ext cx="1600200" cy="548640"/>
          </a:xfrm>
          <a:prstGeom prst="round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Tax Engine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5760720" y="0"/>
            <a:ext cx="228600" cy="0"/>
          </a:xfrm>
          <a:prstGeom prst="line">
            <a:avLst/>
          </a:prstGeom>
          <a:ln w="15875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ounded Rectangle 170"/>
          <p:cNvSpPr/>
          <p:nvPr/>
        </p:nvSpPr>
        <p:spPr>
          <a:xfrm>
            <a:off x="6217920" y="5140234"/>
            <a:ext cx="1600200" cy="548640"/>
          </a:xfrm>
          <a:prstGeom prst="roundRect">
            <a:avLst/>
          </a:prstGeom>
          <a:solidFill>
            <a:srgbClr val="DE9E28"/>
          </a:solidFill>
          <a:ln>
            <a:solidFill>
              <a:srgbClr val="DE9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FBR-Ready Report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730498"/>
              </p:ext>
            </p:extLst>
          </p:nvPr>
        </p:nvGraphicFramePr>
        <p:xfrm>
          <a:off x="634482" y="1192919"/>
          <a:ext cx="7417835" cy="2875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0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046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AI-powered personal finance and tax management platform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fr-FR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Urdu, Roman Urdu &amp; English </a:t>
                      </a:r>
                      <a:r>
                        <a:rPr lang="fr-FR" sz="1400" b="0" dirty="0" err="1" smtClean="0">
                          <a:solidFill>
                            <a:srgbClr val="232D3C"/>
                          </a:solidFill>
                          <a:latin typeface="Calibri"/>
                        </a:rPr>
                        <a:t>voice-based</a:t>
                      </a:r>
                      <a:r>
                        <a:rPr lang="fr-FR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 </a:t>
                      </a:r>
                      <a:r>
                        <a:rPr lang="fr-FR" sz="1400" b="0" dirty="0" err="1" smtClean="0">
                          <a:solidFill>
                            <a:srgbClr val="232D3C"/>
                          </a:solidFill>
                          <a:latin typeface="Calibri"/>
                        </a:rPr>
                        <a:t>expense</a:t>
                      </a:r>
                      <a:r>
                        <a:rPr lang="fr-FR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 entry</a:t>
                      </a:r>
                      <a:endParaRPr lang="fr-FR"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046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Multi-transaction and split-expense detection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Receipt scanning using OCR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046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Automatic expense and income categorization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Smart weekly/monthly budgeting with spending alerts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046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Financial analytics, assets, liabilities &amp; net-worth tracking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Tax-aware transaction classification and tax calculation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046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Wealth Statement preparation and automatic reconciliation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AI Tax Assistant with personalized financial insights</a:t>
                      </a:r>
                      <a:endParaRPr lang="en-US"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14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solidFill>
                  <a:srgbClr val="1F497D"/>
                </a:solidFill>
                <a:latin typeface="Calibri"/>
              </a:rPr>
              <a:t>PROJECT SCOPE</a:t>
            </a:r>
            <a:endParaRPr/>
          </a:p>
        </p:txBody>
      </p:sp>
      <p:sp>
        <p:nvSpPr>
          <p:cNvPr id="164" name="Google Shape;164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b" anchorCtr="0">
            <a:normAutofit/>
          </a:bodyPr>
          <a:lstStyle/>
          <a:p>
            <a:pPr marL="44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sz="2100" b="0">
                <a:solidFill>
                  <a:srgbClr val="646E78"/>
                </a:solidFill>
                <a:latin typeface="Calibri"/>
              </a:rPr>
              <a:t>Focused scope for a strong first prototype and final FYP delivery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15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200" b="1">
                <a:solidFill>
                  <a:srgbClr val="1F497D"/>
                </a:solidFill>
                <a:latin typeface="Calibri"/>
              </a:rPr>
              <a:t>Project Scope</a:t>
            </a:r>
            <a:endParaRPr/>
          </a:p>
        </p:txBody>
      </p:sp>
      <p:graphicFrame>
        <p:nvGraphicFramePr>
          <p:cNvPr id="170" name="Table 1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893070"/>
              </p:ext>
            </p:extLst>
          </p:nvPr>
        </p:nvGraphicFramePr>
        <p:xfrm>
          <a:off x="411480" y="1417320"/>
          <a:ext cx="7772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Scope Area</a:t>
                      </a:r>
                    </a:p>
                  </a:txBody>
                  <a:tcPr marL="36576" marR="36576" marT="27432" marB="27432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Included in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HisabKetab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 AI</a:t>
                      </a:r>
                    </a:p>
                  </a:txBody>
                  <a:tcPr marL="36576" marR="36576" marT="27432" marB="27432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232D3C"/>
                          </a:solidFill>
                          <a:latin typeface="Calibri"/>
                        </a:rPr>
                        <a:t>AI Financial Input</a:t>
                      </a: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dirty="0">
                          <a:solidFill>
                            <a:srgbClr val="232D3C"/>
                          </a:solidFill>
                          <a:latin typeface="Calibri"/>
                        </a:rPr>
                        <a:t>Voice input, text input, receipt scanning, NLP extraction, split expense detection.</a:t>
                      </a: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232D3C"/>
                          </a:solidFill>
                          <a:latin typeface="Calibri"/>
                        </a:rPr>
                        <a:t>Personal Finance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dirty="0">
                          <a:solidFill>
                            <a:srgbClr val="232D3C"/>
                          </a:solidFill>
                          <a:latin typeface="Calibri"/>
                        </a:rPr>
                        <a:t>Income/expense tracking, categories, accounts, budgets, safe spending and analytics.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232D3C"/>
                          </a:solidFill>
                          <a:latin typeface="Calibri"/>
                        </a:rPr>
                        <a:t>Financial Intelligence</a:t>
                      </a: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dirty="0">
                          <a:solidFill>
                            <a:srgbClr val="232D3C"/>
                          </a:solidFill>
                          <a:latin typeface="Calibri"/>
                        </a:rPr>
                        <a:t>Anomaly detection, net worth, financial health and tax-readiness score.</a:t>
                      </a: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232D3C"/>
                          </a:solidFill>
                          <a:latin typeface="Calibri"/>
                        </a:rPr>
                        <a:t>Tax Intelligence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dirty="0">
                          <a:solidFill>
                            <a:srgbClr val="232D3C"/>
                          </a:solidFill>
                          <a:latin typeface="Calibri"/>
                        </a:rPr>
                        <a:t>Income classification, tax calculation, withholding tracking, wealth statement and reconciliation.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232D3C"/>
                          </a:solidFill>
                          <a:latin typeface="Calibri"/>
                        </a:rPr>
                        <a:t>Reports</a:t>
                      </a: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dirty="0">
                          <a:solidFill>
                            <a:srgbClr val="232D3C"/>
                          </a:solidFill>
                          <a:latin typeface="Calibri"/>
                        </a:rPr>
                        <a:t>Weekly/monthly/annual summaries, tax summary, PDF/CSV/FBR-ready export.</a:t>
                      </a: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b="1">
                          <a:solidFill>
                            <a:srgbClr val="232D3C"/>
                          </a:solidFill>
                          <a:latin typeface="Calibri"/>
                        </a:rPr>
                        <a:t>Out of Scope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sz="1400" dirty="0">
                          <a:solidFill>
                            <a:srgbClr val="232D3C"/>
                          </a:solidFill>
                          <a:latin typeface="Calibri"/>
                        </a:rPr>
                        <a:t>Direct automatic FBR IRIS submission unless official integration access becomes available.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16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200" b="1">
                <a:solidFill>
                  <a:srgbClr val="1F497D"/>
                </a:solidFill>
                <a:latin typeface="Calibri"/>
              </a:rPr>
              <a:t>WORK BREAKDOWN STRUCTURE</a:t>
            </a:r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b" anchorCtr="0">
            <a:normAutofit/>
          </a:bodyPr>
          <a:lstStyle/>
          <a:p>
            <a:pPr marL="44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sz="2100" b="0">
                <a:solidFill>
                  <a:srgbClr val="646E78"/>
                </a:solidFill>
                <a:latin typeface="Calibri"/>
              </a:rPr>
              <a:t>Planned work according to Riphah proposal milestones and two-semester FYP timeline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17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 dirty="0" smtClean="0">
                <a:solidFill>
                  <a:srgbClr val="1F497D"/>
                </a:solidFill>
              </a:rPr>
              <a:t>Constraints </a:t>
            </a:r>
            <a:r>
              <a:rPr sz="3000" b="1" dirty="0" smtClean="0">
                <a:solidFill>
                  <a:srgbClr val="1F497D"/>
                </a:solidFill>
                <a:latin typeface="Calibri"/>
              </a:rPr>
              <a:t>and </a:t>
            </a:r>
            <a:r>
              <a:rPr sz="3000" b="1" dirty="0">
                <a:solidFill>
                  <a:srgbClr val="1F497D"/>
                </a:solidFill>
                <a:latin typeface="Calibri"/>
              </a:rPr>
              <a:t>Limitations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29046" y="1276119"/>
            <a:ext cx="7457958" cy="243193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Urdu/Roman Urdu speech accuracy may vary with accent, noise, and pronunciation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OCR </a:t>
            </a:r>
            <a:r>
              <a:rPr lang="en-US" dirty="0"/>
              <a:t>accuracy depends on receipt quality, lighting, blur, and layout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AI </a:t>
            </a:r>
            <a:r>
              <a:rPr lang="en-US" dirty="0"/>
              <a:t>may misclassify complex or ambiguous financial transactions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Tax </a:t>
            </a:r>
            <a:r>
              <a:rPr lang="en-US" dirty="0"/>
              <a:t>rules and slabs can change every tax year and must be updated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Bank/</a:t>
            </a:r>
            <a:r>
              <a:rPr lang="en-US" dirty="0" err="1" smtClean="0"/>
              <a:t>Easypaisa</a:t>
            </a:r>
            <a:r>
              <a:rPr lang="en-US" dirty="0" smtClean="0"/>
              <a:t>/</a:t>
            </a:r>
            <a:r>
              <a:rPr lang="en-US" dirty="0" err="1" smtClean="0"/>
              <a:t>JazzCash</a:t>
            </a:r>
            <a:r>
              <a:rPr lang="en-US" dirty="0" smtClean="0"/>
              <a:t> </a:t>
            </a:r>
            <a:r>
              <a:rPr lang="en-US" dirty="0"/>
              <a:t>integration may depend on third-party API access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Wealth </a:t>
            </a:r>
            <a:r>
              <a:rPr lang="en-US" dirty="0"/>
              <a:t>reconciliation depends on complete and accurate user-provided data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system provides tax assistance, not professional legal or tax advice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Internet </a:t>
            </a:r>
            <a:r>
              <a:rPr lang="en-US" dirty="0"/>
              <a:t>connectivity may be required for some AI and cloud-based features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Large-scale </a:t>
            </a:r>
            <a:r>
              <a:rPr lang="en-US" dirty="0"/>
              <a:t>model training is limited by available dataset size and computing resources.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582997"/>
              </p:ext>
            </p:extLst>
          </p:nvPr>
        </p:nvGraphicFramePr>
        <p:xfrm>
          <a:off x="782372" y="4154799"/>
          <a:ext cx="6951305" cy="1843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8377">
                  <a:extLst>
                    <a:ext uri="{9D8B030D-6E8A-4147-A177-3AD203B41FA5}">
                      <a16:colId xmlns:a16="http://schemas.microsoft.com/office/drawing/2014/main" val="966120504"/>
                    </a:ext>
                  </a:extLst>
                </a:gridCol>
              </a:tblGrid>
              <a:tr h="368733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600" b="1" dirty="0" err="1" smtClean="0">
                          <a:solidFill>
                            <a:srgbClr val="232D3C"/>
                          </a:solidFill>
                          <a:latin typeface="Calibri"/>
                        </a:rPr>
                        <a:t>Abubakar</a:t>
                      </a:r>
                      <a:endParaRPr sz="16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fr-FR" sz="1600" b="1" dirty="0" err="1" smtClean="0">
                          <a:solidFill>
                            <a:srgbClr val="232D3C"/>
                          </a:solidFill>
                          <a:latin typeface="Calibri"/>
                        </a:rPr>
                        <a:t>Muqeet</a:t>
                      </a:r>
                      <a:endParaRPr lang="fr-FR" sz="16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fr-FR" sz="1600" b="1" dirty="0" err="1" smtClean="0">
                          <a:solidFill>
                            <a:srgbClr val="232D3C"/>
                          </a:solidFill>
                          <a:latin typeface="Calibri"/>
                        </a:rPr>
                        <a:t>Shared</a:t>
                      </a:r>
                      <a:endParaRPr lang="fr-FR" sz="1600" b="1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733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Fast API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Flutter UI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NLP/OCR 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733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Database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Dashboard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Testing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733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Text Engine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AI Input UX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Documentation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733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Integrations</a:t>
                      </a:r>
                      <a:endParaRPr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Reports </a:t>
                      </a:r>
                      <a:endParaRPr lang="en-US"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232D3C"/>
                          </a:solidFill>
                          <a:latin typeface="Calibri"/>
                        </a:defRPr>
                      </a:pPr>
                      <a:r>
                        <a:rPr lang="en-US" sz="1400" b="0" dirty="0" smtClean="0">
                          <a:solidFill>
                            <a:srgbClr val="232D3C"/>
                          </a:solidFill>
                          <a:latin typeface="Calibri"/>
                        </a:rPr>
                        <a:t>Presentation</a:t>
                      </a:r>
                      <a:endParaRPr lang="en-US" sz="1400" b="0" dirty="0">
                        <a:solidFill>
                          <a:srgbClr val="232D3C"/>
                        </a:solidFill>
                        <a:latin typeface="Calibri"/>
                      </a:endParaRPr>
                    </a:p>
                  </a:txBody>
                  <a:tcPr marL="36576" marR="36576" marT="27432" marB="27432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Google Shape;181;p27"/>
          <p:cNvSpPr txBox="1">
            <a:spLocks/>
          </p:cNvSpPr>
          <p:nvPr/>
        </p:nvSpPr>
        <p:spPr>
          <a:xfrm>
            <a:off x="529046" y="313655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45700" rIns="73152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US" sz="3000" b="1" dirty="0" smtClean="0">
                <a:solidFill>
                  <a:srgbClr val="1F497D"/>
                </a:solidFill>
              </a:rPr>
              <a:t>Roles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458200" y="6248400"/>
            <a:ext cx="52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18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1041</Words>
  <Application>Microsoft Office PowerPoint</Application>
  <PresentationFormat>On-screen Show (4:3)</PresentationFormat>
  <Paragraphs>202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Final Year Project Proposal</vt:lpstr>
      <vt:lpstr>Project Team</vt:lpstr>
      <vt:lpstr>Table of Content</vt:lpstr>
      <vt:lpstr>INTRODUCTION AND BACKGROUND</vt:lpstr>
      <vt:lpstr>Background</vt:lpstr>
      <vt:lpstr>Importance</vt:lpstr>
      <vt:lpstr>LITERATURE REVIEW</vt:lpstr>
      <vt:lpstr>Market Survey</vt:lpstr>
      <vt:lpstr>GAP ANALYSIS</vt:lpstr>
      <vt:lpstr>Gap Analysis</vt:lpstr>
      <vt:lpstr>PROBLEM STATEMENT</vt:lpstr>
      <vt:lpstr>Problem Statement</vt:lpstr>
      <vt:lpstr>PROPOSED SOLUTION AND METHODOLOGY</vt:lpstr>
      <vt:lpstr>Proposed Solution and Methodology</vt:lpstr>
      <vt:lpstr>PROJECT SCOPE</vt:lpstr>
      <vt:lpstr>Project Scope</vt:lpstr>
      <vt:lpstr>WORK BREAKDOWN STRUCTURE</vt:lpstr>
      <vt:lpstr>Constraints and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Hp</cp:lastModifiedBy>
  <cp:revision>21</cp:revision>
  <dcterms:created xsi:type="dcterms:W3CDTF">2013-01-22T07:04:44Z</dcterms:created>
  <dcterms:modified xsi:type="dcterms:W3CDTF">2026-09-15T16:27:13Z</dcterms:modified>
</cp:coreProperties>
</file>